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Inter" panose="020B0502030000000004" pitchFamily="34" charset="0"/>
      <p:regular r:id="rId6"/>
      <p:bold r:id="rId7"/>
      <p:boldItalic r:id="rId8"/>
    </p:embeddedFont>
    <p:embeddedFont>
      <p:font typeface="Inter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530902b0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530902b0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f530902b0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f530902b0_2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81000" y="238125"/>
            <a:ext cx="7620000" cy="2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705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 agent-based comparison of strategies for mitigating football riots</a:t>
            </a:r>
            <a:endParaRPr sz="1705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1000" y="6191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3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Research Question:</a:t>
            </a:r>
            <a:r>
              <a:rPr lang="nl" sz="1203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Does separation or normalization reduce football riot behaviour more effectively?</a:t>
            </a:r>
            <a:endParaRPr sz="1203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81000" y="1095450"/>
            <a:ext cx="8382000" cy="20001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893250" y="1219375"/>
            <a:ext cx="1620000" cy="162000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1400" y="1273913"/>
            <a:ext cx="1524000" cy="15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846000" y="2848075"/>
            <a:ext cx="1714500" cy="20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Random Initialization</a:t>
            </a:r>
            <a:endParaRPr sz="1000" b="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1400" y="1267375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846150" y="2873875"/>
            <a:ext cx="1714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Schelling </a:t>
            </a:r>
            <a:r>
              <a:rPr lang="nl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Segregation</a:t>
            </a:r>
            <a:endParaRPr sz="1000" b="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655750" y="1957975"/>
            <a:ext cx="285900" cy="14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4084150" y="1219363"/>
            <a:ext cx="1620000" cy="162000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32000" y="1267375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4036900" y="2807875"/>
            <a:ext cx="1714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Civil Violence Dynamics</a:t>
            </a:r>
            <a:endParaRPr sz="1000" b="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7" name="Google Shape;67;p13"/>
          <p:cNvGrpSpPr/>
          <p:nvPr/>
        </p:nvGrpSpPr>
        <p:grpSpPr>
          <a:xfrm>
            <a:off x="7296395" y="1137348"/>
            <a:ext cx="1393335" cy="1916297"/>
            <a:chOff x="7038067" y="1147931"/>
            <a:chExt cx="1639217" cy="1714500"/>
          </a:xfrm>
        </p:grpSpPr>
        <p:sp>
          <p:nvSpPr>
            <p:cNvPr id="68" name="Google Shape;68;p13"/>
            <p:cNvSpPr/>
            <p:nvPr/>
          </p:nvSpPr>
          <p:spPr>
            <a:xfrm>
              <a:off x="7038067" y="1147931"/>
              <a:ext cx="1619100" cy="1714500"/>
            </a:xfrm>
            <a:prstGeom prst="roundRect">
              <a:avLst>
                <a:gd name="adj" fmla="val 4705"/>
              </a:avLst>
            </a:prstGeom>
            <a:solidFill>
              <a:srgbClr val="E0F2FE"/>
            </a:solidFill>
            <a:ln w="106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7139484" y="1317768"/>
              <a:ext cx="1537800" cy="14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118" b="1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Core Motivation</a:t>
              </a:r>
              <a:endParaRPr sz="1118" b="1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71"/>
                </a:spcBef>
                <a:spcAft>
                  <a:spcPts val="0"/>
                </a:spcAft>
                <a:buNone/>
              </a:pPr>
              <a:r>
                <a:rPr lang="nl" sz="1118" b="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Riots are non-linear patterns emerging from local interactions between heterogeneous fans.</a:t>
              </a:r>
              <a:endParaRPr sz="1118" b="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381000" y="3238500"/>
            <a:ext cx="5048400" cy="1714500"/>
            <a:chOff x="381000" y="3238500"/>
            <a:chExt cx="5048400" cy="1714500"/>
          </a:xfrm>
        </p:grpSpPr>
        <p:sp>
          <p:nvSpPr>
            <p:cNvPr id="71" name="Google Shape;71;p13"/>
            <p:cNvSpPr/>
            <p:nvPr/>
          </p:nvSpPr>
          <p:spPr>
            <a:xfrm>
              <a:off x="381000" y="3238500"/>
              <a:ext cx="50484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 txBox="1"/>
            <p:nvPr/>
          </p:nvSpPr>
          <p:spPr>
            <a:xfrm>
              <a:off x="571500" y="3381375"/>
              <a:ext cx="4667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Unique Strengths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lang="nl" sz="11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Emergent Patterns:</a:t>
              </a:r>
              <a:r>
                <a:rPr lang="nl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Schelling segregation generates a natural segregation, affecting chance of interaction. Combined with inter- and intra- group dynamics to decide fighting.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lang="nl" sz="11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Integrated Modeling:</a:t>
              </a:r>
              <a:r>
                <a:rPr lang="nl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Combines Schelling clustering, civil violence, and police deterrence.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5572125" y="3238500"/>
            <a:ext cx="3190800" cy="1714500"/>
            <a:chOff x="5572125" y="3238500"/>
            <a:chExt cx="3190800" cy="1714500"/>
          </a:xfrm>
        </p:grpSpPr>
        <p:sp>
          <p:nvSpPr>
            <p:cNvPr id="74" name="Google Shape;74;p13"/>
            <p:cNvSpPr/>
            <p:nvPr/>
          </p:nvSpPr>
          <p:spPr>
            <a:xfrm>
              <a:off x="5572125" y="3238500"/>
              <a:ext cx="3190800" cy="1714500"/>
            </a:xfrm>
            <a:prstGeom prst="roundRect">
              <a:avLst>
                <a:gd name="adj" fmla="val 6666"/>
              </a:avLst>
            </a:prstGeom>
            <a:solidFill>
              <a:srgbClr val="F0FDF4"/>
            </a:solidFill>
            <a:ln w="9525" cap="flat" cmpd="sng">
              <a:solidFill>
                <a:srgbClr val="BBF7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 txBox="1"/>
            <p:nvPr/>
          </p:nvSpPr>
          <p:spPr>
            <a:xfrm>
              <a:off x="5762625" y="3381375"/>
              <a:ext cx="2809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3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Key Use Case</a:t>
              </a:r>
              <a:endParaRPr sz="1300" b="1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nl" sz="1100" b="0">
                  <a:solidFill>
                    <a:srgbClr val="16653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Policy Testing:</a:t>
              </a:r>
              <a:endParaRPr sz="1100" b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nl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Safely compare </a:t>
              </a:r>
              <a:r>
                <a:rPr lang="nl" sz="1100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separation vs. normalization</a:t>
              </a:r>
              <a:r>
                <a:rPr lang="nl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nl" sz="1100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police deployment </a:t>
              </a:r>
              <a:r>
                <a:rPr lang="nl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strategies without real-world risks.</a:t>
              </a:r>
              <a:endParaRPr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76" name="Google Shape;76;p13"/>
          <p:cNvPicPr preferRelativeResize="0"/>
          <p:nvPr/>
        </p:nvPicPr>
        <p:blipFill rotWithShape="1">
          <a:blip r:embed="rId7">
            <a:alphaModFix/>
          </a:blip>
          <a:srcRect t="710" b="710"/>
          <a:stretch/>
        </p:blipFill>
        <p:spPr>
          <a:xfrm>
            <a:off x="7801896" y="95250"/>
            <a:ext cx="1246800" cy="5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398875" y="1608025"/>
            <a:ext cx="15240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chemeClr val="accent1"/>
                </a:solidFill>
              </a:rPr>
              <a:t>Home </a:t>
            </a:r>
            <a:r>
              <a:rPr lang="nl" sz="1100">
                <a:solidFill>
                  <a:schemeClr val="dk2"/>
                </a:solidFill>
              </a:rPr>
              <a:t>and</a:t>
            </a:r>
            <a:r>
              <a:rPr lang="nl" sz="1100">
                <a:solidFill>
                  <a:schemeClr val="accent1"/>
                </a:solidFill>
              </a:rPr>
              <a:t> </a:t>
            </a:r>
            <a:r>
              <a:rPr lang="nl" sz="1100">
                <a:solidFill>
                  <a:srgbClr val="F2C94D"/>
                </a:solidFill>
              </a:rPr>
              <a:t>away</a:t>
            </a:r>
            <a:r>
              <a:rPr lang="nl" sz="1100">
                <a:solidFill>
                  <a:schemeClr val="accent1"/>
                </a:solidFill>
              </a:rPr>
              <a:t> </a:t>
            </a:r>
            <a:r>
              <a:rPr lang="nl" sz="1100">
                <a:solidFill>
                  <a:schemeClr val="dk2"/>
                </a:solidFill>
              </a:rPr>
              <a:t>fans move if not enough same team in moore neighborhood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5805000" y="1273925"/>
            <a:ext cx="1524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rgbClr val="EB5757"/>
                </a:solidFill>
              </a:rPr>
              <a:t>Fans have a chance to fight based on likelihood of arrest, likelihood of winning and a (logit) hawk dove game.</a:t>
            </a:r>
            <a:endParaRPr sz="1100">
              <a:solidFill>
                <a:srgbClr val="EB575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>
                <a:solidFill>
                  <a:schemeClr val="dk1"/>
                </a:solidFill>
              </a:rPr>
              <a:t>Police arrest fighting fans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/>
        </p:nvSpPr>
        <p:spPr>
          <a:xfrm>
            <a:off x="381000" y="23812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Sensitivity Analysis and Emergent Properties </a:t>
            </a:r>
            <a:endParaRPr sz="2000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" name="Google Shape;84;p14"/>
          <p:cNvGrpSpPr/>
          <p:nvPr/>
        </p:nvGrpSpPr>
        <p:grpSpPr>
          <a:xfrm>
            <a:off x="3972788" y="978087"/>
            <a:ext cx="4789799" cy="2835901"/>
            <a:chOff x="4000500" y="2817375"/>
            <a:chExt cx="2476500" cy="2190900"/>
          </a:xfrm>
        </p:grpSpPr>
        <p:sp>
          <p:nvSpPr>
            <p:cNvPr id="85" name="Google Shape;85;p14"/>
            <p:cNvSpPr/>
            <p:nvPr/>
          </p:nvSpPr>
          <p:spPr>
            <a:xfrm>
              <a:off x="4000500" y="2817375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4143375" y="296025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2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Emergent Properties</a:t>
              </a:r>
              <a:endParaRPr sz="12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nl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Simple rules yield self-organized riot patterns. Random separations (Sim Threshold of &lt; 0.1 or &gt; 0.5) combined with low fight threshold produces the most fighting. 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nl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Non-linear: Both the Similarity threshold and cost have non linear relations to the amount of fights happening.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3972850" y="3986300"/>
            <a:ext cx="4789684" cy="1027487"/>
            <a:chOff x="6667500" y="2667010"/>
            <a:chExt cx="2095500" cy="3325200"/>
          </a:xfrm>
        </p:grpSpPr>
        <p:sp>
          <p:nvSpPr>
            <p:cNvPr id="88" name="Google Shape;88;p14"/>
            <p:cNvSpPr/>
            <p:nvPr/>
          </p:nvSpPr>
          <p:spPr>
            <a:xfrm>
              <a:off x="6667500" y="2667010"/>
              <a:ext cx="2095500" cy="3325200"/>
            </a:xfrm>
            <a:prstGeom prst="roundRect">
              <a:avLst>
                <a:gd name="adj" fmla="val 5454"/>
              </a:avLst>
            </a:prstGeom>
            <a:solidFill>
              <a:srgbClr val="F0FDF4"/>
            </a:solidFill>
            <a:ln w="9525" cap="flat" cmpd="sng">
              <a:solidFill>
                <a:srgbClr val="BBF7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6810377" y="2809891"/>
              <a:ext cx="1809600" cy="302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2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Answer to Research Question</a:t>
              </a:r>
              <a:endParaRPr sz="1050" b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nl" sz="1000" b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Interventions targeting individual aggression outperform spatial separation alone</a:t>
              </a:r>
              <a:r>
                <a:rPr lang="nl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 but spatial segregation has a significant interaction effect on the amount of aggression happening: in our model segregation helps in preventing fights.</a:t>
              </a:r>
              <a:endParaRPr sz="1000" b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0" name="Google Shape;90;p14"/>
          <p:cNvPicPr preferRelativeResize="0"/>
          <p:nvPr/>
        </p:nvPicPr>
        <p:blipFill rotWithShape="1">
          <a:blip r:embed="rId4">
            <a:alphaModFix/>
          </a:blip>
          <a:srcRect l="-1771"/>
          <a:stretch/>
        </p:blipFill>
        <p:spPr>
          <a:xfrm>
            <a:off x="4045225" y="2276025"/>
            <a:ext cx="1930500" cy="1475100"/>
          </a:xfrm>
          <a:prstGeom prst="roundRect">
            <a:avLst>
              <a:gd name="adj" fmla="val 3870"/>
            </a:avLst>
          </a:prstGeom>
          <a:noFill/>
          <a:ln>
            <a:noFill/>
          </a:ln>
        </p:spPr>
      </p:pic>
      <p:grpSp>
        <p:nvGrpSpPr>
          <p:cNvPr id="91" name="Google Shape;91;p14"/>
          <p:cNvGrpSpPr/>
          <p:nvPr/>
        </p:nvGrpSpPr>
        <p:grpSpPr>
          <a:xfrm>
            <a:off x="319400" y="994125"/>
            <a:ext cx="3429000" cy="3916672"/>
            <a:chOff x="381000" y="751975"/>
            <a:chExt cx="3429000" cy="2190900"/>
          </a:xfrm>
        </p:grpSpPr>
        <p:sp>
          <p:nvSpPr>
            <p:cNvPr id="92" name="Google Shape;92;p14"/>
            <p:cNvSpPr/>
            <p:nvPr/>
          </p:nvSpPr>
          <p:spPr>
            <a:xfrm>
              <a:off x="381000" y="751975"/>
              <a:ext cx="3429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523800" y="816200"/>
              <a:ext cx="3143400" cy="8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" sz="12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Sensitivity Analysis</a:t>
              </a:r>
              <a:endParaRPr sz="12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nl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Fight threshold is the dominant driver; S1 and ST are highest in the Sobol bar chart.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nl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There is clear interaction effects in all parameters tested.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nl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Similarity threshold mostly yields interaction effects.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4" name="Google Shape;94;p14"/>
          <p:cNvPicPr preferRelativeResize="0"/>
          <p:nvPr/>
        </p:nvPicPr>
        <p:blipFill rotWithShape="1">
          <a:blip r:embed="rId5">
            <a:alphaModFix/>
          </a:blip>
          <a:srcRect l="520" r="-520"/>
          <a:stretch/>
        </p:blipFill>
        <p:spPr>
          <a:xfrm>
            <a:off x="381000" y="2688175"/>
            <a:ext cx="3300300" cy="2100000"/>
          </a:xfrm>
          <a:prstGeom prst="roundRect">
            <a:avLst>
              <a:gd name="adj" fmla="val 3870"/>
            </a:avLst>
          </a:prstGeom>
          <a:noFill/>
          <a:ln>
            <a:noFill/>
          </a:ln>
        </p:spPr>
      </p:pic>
      <p:pic>
        <p:nvPicPr>
          <p:cNvPr id="95" name="Google Shape;95;p14" title="Scherm­afbeelding 2026-06-26 om 09.11.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725" y="2308063"/>
            <a:ext cx="2667499" cy="89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4"/>
          <p:cNvGrpSpPr/>
          <p:nvPr/>
        </p:nvGrpSpPr>
        <p:grpSpPr>
          <a:xfrm>
            <a:off x="5975725" y="2493713"/>
            <a:ext cx="2612233" cy="1027500"/>
            <a:chOff x="5926350" y="2462550"/>
            <a:chExt cx="2612233" cy="1027500"/>
          </a:xfrm>
        </p:grpSpPr>
        <p:pic>
          <p:nvPicPr>
            <p:cNvPr id="97" name="Google Shape;97;p14"/>
            <p:cNvPicPr preferRelativeResize="0"/>
            <p:nvPr/>
          </p:nvPicPr>
          <p:blipFill rotWithShape="1">
            <a:blip r:embed="rId7">
              <a:alphaModFix/>
            </a:blip>
            <a:srcRect l="526" t="10507" r="71775"/>
            <a:stretch/>
          </p:blipFill>
          <p:spPr>
            <a:xfrm>
              <a:off x="5926350" y="2462550"/>
              <a:ext cx="1412700" cy="1027500"/>
            </a:xfrm>
            <a:prstGeom prst="roundRect">
              <a:avLst>
                <a:gd name="adj" fmla="val 3870"/>
              </a:avLst>
            </a:prstGeom>
            <a:noFill/>
            <a:ln>
              <a:noFill/>
            </a:ln>
          </p:spPr>
        </p:pic>
        <p:pic>
          <p:nvPicPr>
            <p:cNvPr id="98" name="Google Shape;98;p14"/>
            <p:cNvPicPr preferRelativeResize="0"/>
            <p:nvPr/>
          </p:nvPicPr>
          <p:blipFill rotWithShape="1">
            <a:blip r:embed="rId7">
              <a:alphaModFix/>
            </a:blip>
            <a:srcRect l="51551" t="10507" r="24517"/>
            <a:stretch/>
          </p:blipFill>
          <p:spPr>
            <a:xfrm>
              <a:off x="7317883" y="2462550"/>
              <a:ext cx="1220700" cy="1027500"/>
            </a:xfrm>
            <a:prstGeom prst="roundRect">
              <a:avLst>
                <a:gd name="adj" fmla="val 3870"/>
              </a:avLst>
            </a:prstGeom>
            <a:noFill/>
            <a:ln>
              <a:noFill/>
            </a:ln>
          </p:spPr>
        </p:pic>
      </p:grpSp>
      <p:cxnSp>
        <p:nvCxnSpPr>
          <p:cNvPr id="99" name="Google Shape;99;p14"/>
          <p:cNvCxnSpPr/>
          <p:nvPr/>
        </p:nvCxnSpPr>
        <p:spPr>
          <a:xfrm rot="10800000">
            <a:off x="6747250" y="3133100"/>
            <a:ext cx="309900" cy="40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4"/>
          <p:cNvCxnSpPr/>
          <p:nvPr/>
        </p:nvCxnSpPr>
        <p:spPr>
          <a:xfrm rot="10800000">
            <a:off x="7929275" y="3078100"/>
            <a:ext cx="283200" cy="4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" name="Google Shape;101;p14"/>
          <p:cNvSpPr txBox="1"/>
          <p:nvPr/>
        </p:nvSpPr>
        <p:spPr>
          <a:xfrm>
            <a:off x="6330275" y="3465925"/>
            <a:ext cx="11940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800">
                <a:solidFill>
                  <a:schemeClr val="dk2"/>
                </a:solidFill>
              </a:rPr>
              <a:t>Segregation collapses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567600" y="3447700"/>
            <a:ext cx="13053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800">
                <a:solidFill>
                  <a:schemeClr val="dk2"/>
                </a:solidFill>
              </a:rPr>
              <a:t>Cost becomes important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397800" y="394225"/>
            <a:ext cx="258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2"/>
                </a:solidFill>
              </a:rPr>
              <a:t>Appendix slide</a:t>
            </a:r>
            <a:r>
              <a:rPr lang="nl"/>
              <a:t> 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738" y="3001750"/>
            <a:ext cx="6464302" cy="20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PHOTO-2026-06-25-17-21-2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7997" y="1051863"/>
            <a:ext cx="5091776" cy="186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Inter</vt:lpstr>
      <vt:lpstr>Arial</vt:lpstr>
      <vt:lpstr>Inter SemiBold</vt:lpstr>
      <vt:lpstr>Simple Light</vt:lpstr>
      <vt:lpstr>PowerPoint Presentation</vt:lpstr>
      <vt:lpstr>PowerPoint Presentation</vt:lpstr>
      <vt:lpstr>Appendix slide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Schuddeboom (21096406)</cp:lastModifiedBy>
  <cp:revision>1</cp:revision>
  <dcterms:modified xsi:type="dcterms:W3CDTF">2026-06-26T08:03:49Z</dcterms:modified>
</cp:coreProperties>
</file>